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03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2203D"/>
                </a:solidFill>
                <a:latin typeface="Arial"/>
              </a:rPr>
              <a:t>Accuracy ranges reported by prior studies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accuracy in surveyed literature (%)</c:v>
                </c:pt>
              </c:strCache>
            </c:strRef>
          </c:tx>
          <c:spPr>
            <a:solidFill>
              <a:srgbClr val="12B7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20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Decision Tree</c:v>
                </c:pt>
                <c:pt idx="1">
                  <c:v>Random Forest</c:v>
                </c:pt>
                <c:pt idx="2">
                  <c:v>Logistic Reg.</c:v>
                </c:pt>
                <c:pt idx="3">
                  <c:v>SVM / XGBoost</c:v>
                </c:pt>
                <c:pt idx="4">
                  <c:v>MLP</c:v>
                </c:pt>
                <c:pt idx="5">
                  <c:v>Ensemble/DL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82.4</c:v>
                </c:pt>
                <c:pt idx="1">
                  <c:v>87</c:v>
                </c:pt>
                <c:pt idx="2">
                  <c:v>96.4</c:v>
                </c:pt>
                <c:pt idx="3">
                  <c:v>95.7</c:v>
                </c:pt>
                <c:pt idx="4">
                  <c:v>99</c:v>
                </c:pt>
                <c:pt idx="5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77-4B71-9F7A-809A00B696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1930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2B7B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12B7B0"/>
          </a:solidFill>
          <a:ln/>
        </p:spPr>
      </p:sp>
      <p:pic>
        <p:nvPicPr>
          <p:cNvPr id="5" name="Image 0" descr="/home/claude/assets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8723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91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CRYPTANALYSIS AND CYBER DEFENCE  •  24CSB3101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057400"/>
            <a:ext cx="10058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Artificial Intelligence Framework for Real-Time Detection and Classification of Phishing Websites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cybersecurity framework that analyzes URL, domain, SSL, and webpage features to flag phishing sites in real time.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0749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Harshini S R  —  2420030113      |      P. Priyanka  —  2420030132      |      Mani Charan Chava  —  2420030545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4406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Ms. Vinisha  |  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fast, cheap to launch, and increasingly hard to catch with static defenses.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6" name="Image 0" descr="/home/claude/assets/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0738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breaches begin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phishing email or link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20240"/>
            <a:ext cx="640080" cy="640080"/>
          </a:xfrm>
          <a:prstGeom prst="ellipse">
            <a:avLst/>
          </a:prstGeom>
          <a:solidFill>
            <a:srgbClr val="12B7B0"/>
          </a:solidFill>
          <a:ln/>
        </p:spPr>
      </p:sp>
      <p:pic>
        <p:nvPicPr>
          <p:cNvPr id="11" name="Image 1" descr="/home/claude/assets/icon_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1339" y="20738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6517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24 hrs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617720" y="3154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lifespan of 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page before takedown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20240"/>
            <a:ext cx="640080" cy="640080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16" name="Image 2" descr="/home/claude/assets/icon_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099" y="20738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6517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0-day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412480" y="3154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phishing pages blacklists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haven't seen yet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0B1E3D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43708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B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defenses fall short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14400" y="47548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Blacklists &amp; rule-based filters only catch previously reported URLs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 URL obfuscation, domain impersonation &amp; short-lived hosting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indicator is reliable — detection needs combined, adaptive signals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 Framework for Real-Time Phishing Detection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63040"/>
            <a:ext cx="566928" cy="566928"/>
          </a:xfrm>
          <a:prstGeom prst="ellipse">
            <a:avLst/>
          </a:prstGeom>
          <a:solidFill>
            <a:srgbClr val="12B7B0"/>
          </a:solidFill>
          <a:ln/>
        </p:spPr>
      </p:sp>
      <p:pic>
        <p:nvPicPr>
          <p:cNvPr id="5" name="Image 0" descr="/home/claude/asset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159910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356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classification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submitted URL as legitimate, suspicious, or phishing instantly.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25112" y="123444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53712" y="1463040"/>
            <a:ext cx="566928" cy="566928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10" name="Image 1" descr="/home/claude/assets/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775" y="159910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85232" y="14356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Multi-signal feature analysis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553712" y="21488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URL, domain, HTTPS/SSL, redirection &amp; webpage features.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01584" y="123444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30184" y="1463040"/>
            <a:ext cx="566928" cy="566928"/>
          </a:xfrm>
          <a:prstGeom prst="ellipse">
            <a:avLst/>
          </a:prstGeom>
          <a:solidFill>
            <a:srgbClr val="12B7B0"/>
          </a:solidFill>
          <a:ln/>
        </p:spPr>
      </p:sp>
      <p:pic>
        <p:nvPicPr>
          <p:cNvPr id="15" name="Image 2" descr="/home/claude/assets/icon_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247" y="159910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61704" y="14356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Best-fit ML model selection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330184" y="21488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multiple algorithms; pick the strongest performer.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70332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3931920"/>
            <a:ext cx="566928" cy="566928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20" name="Image 3" descr="/home/claude/assets/icon_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303" y="406798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390448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Zero-day detection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77240" y="46177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behavioral patterns, not just memorized blacklist entries.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25112" y="370332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53712" y="3931920"/>
            <a:ext cx="566928" cy="566928"/>
          </a:xfrm>
          <a:prstGeom prst="ellipse">
            <a:avLst/>
          </a:prstGeom>
          <a:solidFill>
            <a:srgbClr val="12B7B0"/>
          </a:solidFill>
          <a:ln/>
        </p:spPr>
      </p:sp>
      <p:pic>
        <p:nvPicPr>
          <p:cNvPr id="25" name="Image 4" descr="/home/claude/assets/icon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9775" y="4067983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85232" y="390448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risk scoring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553712" y="46177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users *why* a site was flagged, not just a verdict.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01584" y="370332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30184" y="3931920"/>
            <a:ext cx="566928" cy="566928"/>
          </a:xfrm>
          <a:prstGeom prst="ellipse">
            <a:avLst/>
          </a:prstGeom>
          <a:solidFill>
            <a:srgbClr val="132A52"/>
          </a:solidFill>
          <a:ln/>
        </p:spPr>
      </p:sp>
      <p:pic>
        <p:nvPicPr>
          <p:cNvPr id="30" name="Image 5" descr="/home/claude/assets/icon_tr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6247" y="4067983"/>
            <a:ext cx="294803" cy="29480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61704" y="390448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adaptation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8330184" y="46177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retraining keeps the model current against new threats.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 Framework for Real-Time Phishing Detection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— Existing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recent studies on ML-based phishing detection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41148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Kulkarni &amp; Brown (2019)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DT, Naïve Bayes, SVM, NN on URL features (1,353 URLs)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static dataset; URL-only features; no real-time 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(2022)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(87.0%) vs Decision Tree (82.4%)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Sub-90% accuracy; no ensemble/real-time interface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Hybrid Model (2024)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URL + domain feature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SSL/webpage-content signals; no explainability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Real-Time (2024)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 comparison; best = Logistic Regression (96.4%)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best-model only; no zero-day adaptability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 MLP+Flask (2025)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RF, SVM, XGBoost, MLP (best 99.03%); Flask demo app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dataset; no retraining; no risk explanation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Deep Learning (2025)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+ deep learning stack (~99%)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compute cost; not explainable; no live scoring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55321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2B7B0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gap: narrow feature sets, offline evaluation, no retraining, and no explainable output — exactly what our framework targets.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 Framework for Real-Time Phishing Detection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&amp; How We Close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FF5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Work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72200" y="1143000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12B7B0"/>
          </a:solidFill>
          <a:ln/>
        </p:spPr>
      </p:sp>
      <p:sp>
        <p:nvSpPr>
          <p:cNvPr id="6" name="Text 4"/>
          <p:cNvSpPr/>
          <p:nvPr/>
        </p:nvSpPr>
        <p:spPr>
          <a:xfrm>
            <a:off x="6172200" y="114300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Framework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91440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feature sets (URL/domain only)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44768" y="1856232"/>
            <a:ext cx="0" cy="768096"/>
          </a:xfrm>
          <a:prstGeom prst="line">
            <a:avLst/>
          </a:prstGeom>
          <a:noFill/>
          <a:ln w="12700">
            <a:solidFill>
              <a:srgbClr val="2A3F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17830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17830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+ domain + HTTPS/SSL + redirection + webpage-content fusion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11064240" cy="9144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974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static-dataset evaluation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44768" y="2770632"/>
            <a:ext cx="0" cy="768096"/>
          </a:xfrm>
          <a:prstGeom prst="line">
            <a:avLst/>
          </a:prstGeom>
          <a:noFill/>
          <a:ln w="12700">
            <a:solidFill>
              <a:srgbClr val="2A3F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26974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26974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URL submission with immediate classification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11064240" cy="91440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11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pipeline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44768" y="3685032"/>
            <a:ext cx="0" cy="768096"/>
          </a:xfrm>
          <a:prstGeom prst="line">
            <a:avLst/>
          </a:prstGeom>
          <a:noFill/>
          <a:ln w="12700">
            <a:solidFill>
              <a:srgbClr val="2A3F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36118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36118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retraining on newly collected phishing samples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11064240" cy="9144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5262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best model, no ensemble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44768" y="4599432"/>
            <a:ext cx="0" cy="768096"/>
          </a:xfrm>
          <a:prstGeom prst="line">
            <a:avLst/>
          </a:prstGeom>
          <a:noFill/>
          <a:ln w="12700">
            <a:solidFill>
              <a:srgbClr val="2A3F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45262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09360" y="45262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benchmarking with ensemble/adaptive learning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4406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label output, no explanation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44768" y="5513832"/>
            <a:ext cx="0" cy="768096"/>
          </a:xfrm>
          <a:prstGeom prst="line">
            <a:avLst/>
          </a:prstGeom>
          <a:noFill/>
          <a:ln w="12700">
            <a:solidFill>
              <a:srgbClr val="2A3F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54406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B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09360" y="54406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risk score with contributing indicators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 Framework for Real-Time Phishing Detection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URL submission to real-time alerting and model retraining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URL  →  validate  →  extract features  →  AI/ML classification  →  risk score &amp; alert  →  store &amp; retrain</a:t>
            </a:r>
            <a:endParaRPr lang="en-US" sz="1250" dirty="0"/>
          </a:p>
        </p:txBody>
      </p:sp>
      <p:pic>
        <p:nvPicPr>
          <p:cNvPr id="6" name="Image 0" descr="/home/claude/assets/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606040"/>
            <a:ext cx="8046720" cy="32278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 Framework for Real-Time Phishing Detection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1554480"/>
            <a:ext cx="868680" cy="868680"/>
          </a:xfrm>
          <a:prstGeom prst="ellipse">
            <a:avLst/>
          </a:prstGeom>
          <a:solidFill>
            <a:srgbClr val="12B7B0"/>
          </a:solidFill>
          <a:ln/>
        </p:spPr>
      </p:sp>
      <p:pic>
        <p:nvPicPr>
          <p:cNvPr id="4" name="Image 0" descr="/home/claude/assets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323" y="1762963"/>
            <a:ext cx="451714" cy="451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560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Data Collection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11480" y="306324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PhiUSIIL dataset — 235,795 URLs, 54 features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2331720" y="16916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26080" y="1554480"/>
            <a:ext cx="868680" cy="86868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9" name="Image 1" descr="/home/claude/assets/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563" y="1762963"/>
            <a:ext cx="451714" cy="4517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31720" y="2560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Preprocessing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331720" y="306324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encode &amp; normalize; split train/test</a:t>
            </a:r>
            <a:endParaRPr lang="en-US" sz="980" dirty="0"/>
          </a:p>
        </p:txBody>
      </p:sp>
      <p:sp>
        <p:nvSpPr>
          <p:cNvPr id="12" name="Text 8"/>
          <p:cNvSpPr/>
          <p:nvPr/>
        </p:nvSpPr>
        <p:spPr>
          <a:xfrm>
            <a:off x="4251960" y="16916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846320" y="1554480"/>
            <a:ext cx="868680" cy="868680"/>
          </a:xfrm>
          <a:prstGeom prst="ellipse">
            <a:avLst/>
          </a:prstGeom>
          <a:solidFill>
            <a:srgbClr val="12B7B0"/>
          </a:solidFill>
          <a:ln/>
        </p:spPr>
      </p:sp>
      <p:pic>
        <p:nvPicPr>
          <p:cNvPr id="14" name="Image 2" descr="/home/claude/assets/icon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4803" y="1762963"/>
            <a:ext cx="451714" cy="45171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51960" y="2560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Feature Selection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251960" y="306324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features by correlation &amp; relevance</a:t>
            </a:r>
            <a:endParaRPr lang="en-US" sz="980" dirty="0"/>
          </a:p>
        </p:txBody>
      </p:sp>
      <p:sp>
        <p:nvSpPr>
          <p:cNvPr id="17" name="Text 12"/>
          <p:cNvSpPr/>
          <p:nvPr/>
        </p:nvSpPr>
        <p:spPr>
          <a:xfrm>
            <a:off x="6172200" y="16916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766560" y="1554480"/>
            <a:ext cx="868680" cy="86868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9" name="Image 3" descr="/home/claude/assets/icon_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5043" y="1762963"/>
            <a:ext cx="451714" cy="45171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72200" y="2560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Model Training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172200" y="306324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DT, RF, LR, SVM, XGBoost trained &amp; compared</a:t>
            </a:r>
            <a:endParaRPr lang="en-US" sz="980" dirty="0"/>
          </a:p>
        </p:txBody>
      </p:sp>
      <p:sp>
        <p:nvSpPr>
          <p:cNvPr id="22" name="Text 16"/>
          <p:cNvSpPr/>
          <p:nvPr/>
        </p:nvSpPr>
        <p:spPr>
          <a:xfrm>
            <a:off x="8092440" y="16916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8686800" y="1554480"/>
            <a:ext cx="868680" cy="868680"/>
          </a:xfrm>
          <a:prstGeom prst="ellipse">
            <a:avLst/>
          </a:prstGeom>
          <a:solidFill>
            <a:srgbClr val="12B7B0"/>
          </a:solidFill>
          <a:ln/>
        </p:spPr>
      </p:sp>
      <p:pic>
        <p:nvPicPr>
          <p:cNvPr id="24" name="Image 4" descr="/home/claude/assets/icon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5283" y="1762963"/>
            <a:ext cx="451714" cy="45171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092440" y="2560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Evaluation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8092440" y="306324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FP-rate</a:t>
            </a:r>
            <a:endParaRPr lang="en-US" sz="980" dirty="0"/>
          </a:p>
        </p:txBody>
      </p:sp>
      <p:sp>
        <p:nvSpPr>
          <p:cNvPr id="27" name="Text 20"/>
          <p:cNvSpPr/>
          <p:nvPr/>
        </p:nvSpPr>
        <p:spPr>
          <a:xfrm>
            <a:off x="10012680" y="169164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10607040" y="1554480"/>
            <a:ext cx="868680" cy="86868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9" name="Image 5" descr="/home/claude/assets/icon_z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15523" y="1762963"/>
            <a:ext cx="451714" cy="45171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012680" y="2560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Real-Time Inference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10012680" y="306324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 scoring with risk explanation</a:t>
            </a:r>
            <a:endParaRPr lang="en-US" sz="980" dirty="0"/>
          </a:p>
        </p:txBody>
      </p:sp>
      <p:sp>
        <p:nvSpPr>
          <p:cNvPr id="32" name="Shape 24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0B1E3D"/>
          </a:solidFill>
          <a:ln/>
        </p:spPr>
      </p:sp>
      <p:sp>
        <p:nvSpPr>
          <p:cNvPr id="33" name="Text 25"/>
          <p:cNvSpPr/>
          <p:nvPr/>
        </p:nvSpPr>
        <p:spPr>
          <a:xfrm>
            <a:off x="914400" y="44622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pipeline flow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914400" y="4800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→ Preprocessing → Feature Extraction → Feature Selection → Model Training → Evaluation → Best Model Selection → Real-Time URL Input → Classification → Risk Assessment → Alert → Storage → Retraining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 Framework for Real-Time Phishing Detection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Exploratory Data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155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PhiUSIIL Phishing URL Dataset
</a:t>
            </a: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235,795 URLs · 54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251960" y="100584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0" y="11155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Phishing Websites
</a:t>
            </a: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11,055 instances · 30 features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955280" y="100584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11155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PhreshPhish (Hugging Face)
</a:t>
            </a: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666,000+ HTML–URL samples</a:t>
            </a:r>
            <a:endParaRPr lang="en-US" sz="1200" dirty="0"/>
          </a:p>
        </p:txBody>
      </p:sp>
      <p:pic>
        <p:nvPicPr>
          <p:cNvPr id="9" name="Image 0" descr="/home/claude/assets/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5257800" cy="4407408"/>
          </a:xfrm>
          <a:prstGeom prst="rect">
            <a:avLst/>
          </a:prstGeom>
        </p:spPr>
      </p:pic>
      <p:pic>
        <p:nvPicPr>
          <p:cNvPr id="10" name="Image 1" descr="/home/claude/assets/topfeatures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331720"/>
            <a:ext cx="5394960" cy="3767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3640" y="6126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predictors: URLSimilarityIndex, HasSocialNet, HasCopyrightInfo, IsHTTPS, DomainTitleMatchScore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 Framework for Real-Time Phishing Detection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Models &amp; Evaluation Metrics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097280"/>
          <a:ext cx="6400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178040" y="1097280"/>
            <a:ext cx="4434840" cy="3931920"/>
          </a:xfrm>
          <a:prstGeom prst="roundRect">
            <a:avLst>
              <a:gd name="adj" fmla="val 2326"/>
            </a:avLst>
          </a:prstGeom>
          <a:solidFill>
            <a:srgbClr val="0B1E3D"/>
          </a:solidFill>
          <a:ln/>
        </p:spPr>
      </p:sp>
      <p:sp>
        <p:nvSpPr>
          <p:cNvPr id="5" name="Text 2"/>
          <p:cNvSpPr/>
          <p:nvPr/>
        </p:nvSpPr>
        <p:spPr>
          <a:xfrm>
            <a:off x="7452360" y="12801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criteria used to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2B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the deployed model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452360" y="2057400"/>
            <a:ext cx="384048" cy="384048"/>
          </a:xfrm>
          <a:prstGeom prst="ellipse">
            <a:avLst/>
          </a:prstGeom>
          <a:solidFill>
            <a:srgbClr val="0C8F89"/>
          </a:solidFill>
          <a:ln/>
        </p:spPr>
      </p:sp>
      <p:pic>
        <p:nvPicPr>
          <p:cNvPr id="7" name="Image 0" descr="/home/claude/asset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532" y="2149572"/>
            <a:ext cx="199705" cy="1997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55280" y="2057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452360" y="2587752"/>
            <a:ext cx="384048" cy="384048"/>
          </a:xfrm>
          <a:prstGeom prst="ellipse">
            <a:avLst/>
          </a:prstGeom>
          <a:solidFill>
            <a:srgbClr val="0C8F89"/>
          </a:solidFill>
          <a:ln/>
        </p:spPr>
      </p:sp>
      <p:pic>
        <p:nvPicPr>
          <p:cNvPr id="10" name="Image 1" descr="/home/claude/asset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532" y="2679924"/>
            <a:ext cx="199705" cy="1997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55280" y="25877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452360" y="3118104"/>
            <a:ext cx="384048" cy="384048"/>
          </a:xfrm>
          <a:prstGeom prst="ellipse">
            <a:avLst/>
          </a:prstGeom>
          <a:solidFill>
            <a:srgbClr val="0C8F89"/>
          </a:solidFill>
          <a:ln/>
        </p:spPr>
      </p:sp>
      <p:pic>
        <p:nvPicPr>
          <p:cNvPr id="13" name="Image 2" descr="/home/claude/asset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532" y="3210276"/>
            <a:ext cx="199705" cy="1997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55280" y="311810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7452360" y="3648456"/>
            <a:ext cx="384048" cy="384048"/>
          </a:xfrm>
          <a:prstGeom prst="ellipse">
            <a:avLst/>
          </a:prstGeom>
          <a:solidFill>
            <a:srgbClr val="0C8F89"/>
          </a:solidFill>
          <a:ln/>
        </p:spPr>
      </p:sp>
      <p:pic>
        <p:nvPicPr>
          <p:cNvPr id="16" name="Image 3" descr="/home/claude/asset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532" y="3740628"/>
            <a:ext cx="199705" cy="19970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55280" y="364845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7452360" y="4178808"/>
            <a:ext cx="384048" cy="384048"/>
          </a:xfrm>
          <a:prstGeom prst="ellipse">
            <a:avLst/>
          </a:prstGeom>
          <a:solidFill>
            <a:srgbClr val="0C8F89"/>
          </a:solidFill>
          <a:ln/>
        </p:spPr>
      </p:sp>
      <p:pic>
        <p:nvPicPr>
          <p:cNvPr id="19" name="Image 4" descr="/home/claude/asset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532" y="4270980"/>
            <a:ext cx="199705" cy="19970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955280" y="417880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4E5"/>
          </a:solidFill>
          <a:ln w="12700">
            <a:solidFill>
              <a:srgbClr val="F4C978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822960" y="53035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Best-performing model(s) — or an ensemble of top performers — is selected and deployed for real-time inference, then periodically retrained.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 Framework for Real-Time Phishing Detection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Applications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132A5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81328"/>
            <a:ext cx="566928" cy="566928"/>
          </a:xfrm>
          <a:prstGeom prst="ellipse">
            <a:avLst/>
          </a:prstGeom>
          <a:solidFill>
            <a:srgbClr val="12B7B0"/>
          </a:solidFill>
          <a:ln/>
        </p:spPr>
      </p:sp>
      <p:pic>
        <p:nvPicPr>
          <p:cNvPr id="5" name="Image 0" descr="/home/claude/assets/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1617391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17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paste a URL and get an instant verdict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2344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132A52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1481328"/>
            <a:ext cx="566928" cy="566928"/>
          </a:xfrm>
          <a:prstGeom prst="ellipse">
            <a:avLst/>
          </a:prstGeom>
          <a:solidFill>
            <a:srgbClr val="12B7B0"/>
          </a:solidFill>
          <a:ln/>
        </p:spPr>
      </p:sp>
      <p:pic>
        <p:nvPicPr>
          <p:cNvPr id="10" name="Image 1" descr="/home/claude/assets/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783" y="1617391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417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Browser-integrated component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617720" y="22860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before a page fully loads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38160" y="12344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132A52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0" y="1481328"/>
            <a:ext cx="566928" cy="566928"/>
          </a:xfrm>
          <a:prstGeom prst="ellipse">
            <a:avLst/>
          </a:prstGeom>
          <a:solidFill>
            <a:srgbClr val="12B7B0"/>
          </a:solidFill>
          <a:ln/>
        </p:spPr>
      </p:sp>
      <p:pic>
        <p:nvPicPr>
          <p:cNvPr id="15" name="Image 2" descr="/home/claude/assets/icon_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543" y="1617391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0" y="1417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service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412480" y="22860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scanning for organizations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3337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B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20" name="Image 3" descr="/home/claude/assets/icon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" y="3973982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users &amp; students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172200" y="3886200"/>
            <a:ext cx="365760" cy="36576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23" name="Image 4" descr="/home/claude/assets/icon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982" y="3973982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7512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 &amp; banks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26" name="Image 5" descr="/home/claude/assets/icon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" y="4659782"/>
            <a:ext cx="190195" cy="19019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5156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172200" y="4572000"/>
            <a:ext cx="365760" cy="36576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29" name="Image 6" descr="/home/claude/assets/icon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982" y="4659782"/>
            <a:ext cx="190195" cy="19019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67512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 teams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 Framework for Real-Time Phishing Detection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17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scalable, real-time, explainable defense against phishing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fusing URL, domain, HTTPS/SSL, redirection &amp; webpage-content features with machine learning and ensemble classification, the framework reduces dependence on static blacklists, detects previously unseen phishing pages, and gives users transparent, risk-scored results — directly addressing the gaps identified in prior research.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548640" cy="548640"/>
          </a:xfrm>
          <a:prstGeom prst="ellipse">
            <a:avLst/>
          </a:prstGeom>
          <a:solidFill>
            <a:srgbClr val="12B7B0"/>
          </a:solidFill>
          <a:ln/>
        </p:spPr>
      </p:sp>
      <p:pic>
        <p:nvPicPr>
          <p:cNvPr id="7" name="Image 0" descr="/home/claude/assets/icon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36978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retraining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4206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to new phishing campaigns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343400" y="3566160"/>
            <a:ext cx="548640" cy="548640"/>
          </a:xfrm>
          <a:prstGeom prst="ellipse">
            <a:avLst/>
          </a:prstGeom>
          <a:solidFill>
            <a:srgbClr val="12B7B0"/>
          </a:solidFill>
          <a:ln/>
        </p:spPr>
      </p:sp>
      <p:pic>
        <p:nvPicPr>
          <p:cNvPr id="11" name="Image 1" descr="/home/claude/assets/icon_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074" y="36978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Deep-learning extensions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343400" y="4206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transformer-based URL/HTML encoders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38160" y="3566160"/>
            <a:ext cx="548640" cy="548640"/>
          </a:xfrm>
          <a:prstGeom prst="ellipse">
            <a:avLst/>
          </a:prstGeom>
          <a:solidFill>
            <a:srgbClr val="12B7B0"/>
          </a:solidFill>
          <a:ln/>
        </p:spPr>
      </p:sp>
      <p:pic>
        <p:nvPicPr>
          <p:cNvPr id="15" name="Image 2" descr="/home/claude/assets/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834" y="369783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2396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extension rollout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138160" y="4206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prototype to live protection</a:t>
            </a:r>
            <a:endParaRPr lang="en-US" sz="108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 Framework for Real-Time Phishing Detection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0" y="1005840"/>
            <a:ext cx="1188720" cy="1188720"/>
          </a:xfrm>
          <a:prstGeom prst="ellipse">
            <a:avLst/>
          </a:prstGeom>
          <a:solidFill>
            <a:srgbClr val="12B7B0"/>
          </a:solidFill>
          <a:ln/>
        </p:spPr>
      </p:sp>
      <p:pic>
        <p:nvPicPr>
          <p:cNvPr id="4" name="Image 0" descr="/home/claude/assets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693" y="1291133"/>
            <a:ext cx="618134" cy="6181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Harshini S R   •   P. Priyanka   •   Mani Charan Chava      |      Guide: Ms. Vinisha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1018</Words>
  <Application>Microsoft Office PowerPoint</Application>
  <PresentationFormat>Custom</PresentationFormat>
  <Paragraphs>169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2420030545 mani charan chava</cp:lastModifiedBy>
  <cp:revision>2</cp:revision>
  <dcterms:created xsi:type="dcterms:W3CDTF">2026-09-17T09:52:06Z</dcterms:created>
  <dcterms:modified xsi:type="dcterms:W3CDTF">2026-09-17T09:56:03Z</dcterms:modified>
</cp:coreProperties>
</file>